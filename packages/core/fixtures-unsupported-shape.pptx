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
    <Relationship Id="rId4" Type="http://schemas.openxmlformats.org/officeDocument/2006/relationships/hyperlink" Target="https://example.com/pptx-previewer/grouped-media" TargetMode="External"/>
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uped Media">
    <p:bg>
      <p:bgPr>
        <a:gradFill rotWithShape="1">
          <a:gsLst>
            <a:gs pos="0">
              <a:schemeClr val="lt1"/>
            </a:gs>
            <a:gs pos="65000">
              <a:schemeClr val="accent6">
                <a:alpha val="12000"/>
              </a:schemeClr>
            </a:gs>
            <a:gs pos="100000">
              <a:schemeClr val="accent1">
                <a:alpha val="16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mage"/>
          <p:cNvPicPr/>
          <p:nvPr/>
        </p:nvPicPr>
        <p:blipFill>
          <a:blip r:embed="rId2">
            <a:alphaModFix amt="68000"/>
          </a:blip>
          <a:srcRect l="8000" r="12000" t="5000" b="15000"/>
          <a:stretch>
            <a:fillRect/>
          </a:stretch>
        </p:blipFill>
        <p:spPr>
          <a:xfrm>
            <a:off x="685800" y="914400"/>
            <a:ext cx="3657600" cy="2057400"/>
          </a:xfrm>
          <a:prstGeom prst="rect">
            <a:avLst/>
          </a:prstGeom>
          <a:ln w="19050">
            <a:solidFill>
              <a:schemeClr val="accent2"/>
            </a:solidFill>
            <a:prstDash val="dashDot"/>
          </a:ln>
        </p:spPr>
      </p:pic>
      <p:grpSp>
        <p:nvGrpSpPr>
          <p:cNvPr id="10" name="Grouped Shapes"/>
          <p:cNvGrpSpPr/>
          <p:nvPr/>
        </p:nvGrpSpPr>
        <p:grpSpPr>
          <a:xfrm>
            <a:off x="4800600" y="1143000"/>
            <a:ext cx="2743200" cy="1981200"/>
            <a:chOff x="0" y="0"/>
            <a:chExt cx="2743200" cy="1981200"/>
          </a:xfrm>
        </p:grpSpPr>
        <p:sp>
          <p:nvSpPr>
            <p:cNvPr id="11" name="Group Panel"/>
            <p:cNvSpPr/>
            <p:nvPr/>
          </p:nvSpPr>
          <p:spPr>
            <a:xfrm>
              <a:off x="0" y="0"/>
              <a:ext cx="2743200" cy="1981200"/>
            </a:xfrm>
            <a:prstGeom prst="roundRect">
              <a:avLst/>
            </a:prstGeom>
            <a:solidFill>
              <a:schemeClr val="accent3">
                <a:tint val="65000"/>
              </a:schemeClr>
            </a:solidFill>
            <a:ln w="19050">
              <a:solidFill>
                <a:schemeClr val="accent3"/>
              </a:solidFill>
            </a:ln>
          </p:spPr>
        </p:sp>
        <p:cxnSp>
          <p:nvCxnSpPr>
            <p:cNvPr id="12" name="Connector"/>
            <p:cNvCxnSpPr/>
            <p:nvPr/>
          </p:nvCxnSpPr>
          <p:spPr>
            <a:xfrm>
              <a:off x="228600" y="457200"/>
              <a:ext cx="1828800" cy="228600"/>
            </a:xfrm>
            <a:prstGeom prst="line">
              <a:avLst/>
            </a:prstGeom>
            <a:ln w="28575" cap="rnd">
              <a:solidFill>
                <a:schemeClr val="accent1">
                  <a:alpha val="62000"/>
                </a:schemeClr>
              </a:solidFill>
              <a:round/>
              <a:headEnd type="oval"/>
              <a:tailEnd type="triangle"/>
            </a:ln>
          </p:spPr>
        </p:cxnSp>
        <p:sp>
          <p:nvSpPr>
            <p:cNvPr id="13" name="Callout">
              <a:hlinkClick r:id="rId4"/>
            </p:cNvPr>
            <p:cNvSpPr/>
            <p:nvPr/>
          </p:nvSpPr>
          <p:spPr>
            <a:xfrm>
              <a:off x="1143000" y="914400"/>
              <a:ext cx="11430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sz="1400" b="1">
                  <a:solidFill>
                    <a:schemeClr val="lt2"/>
                  </a:solidFill>
                </a:rPr>
                <a:t>Group</a:t>
              </a:r>
            </a:p>
          </p:txBody>
        </p:sp>
      </p:grpSp>
      <p:sp>
        <p:nvSpPr>
          <p:cNvPr id="30" name="Gradient Note"/>
          <p:cNvSpPr txBox="1"/>
          <p:nvPr/>
        </p:nvSpPr>
        <p:spPr>
          <a:xfrm>
            <a:off x="4800600" y="457200"/>
            <a:ext cx="2743200" cy="548640"/>
          </a:xfrm>
          <a:prstGeom prst="round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6">
                  <a:alpha val="78000"/>
                </a:schemeClr>
              </a:gs>
              <a:gs pos="100000">
                <a:schemeClr val="accent3"/>
              </a:gs>
            </a:gsLst>
            <a:lin ang="0" scaled="1"/>
          </a:gradFill>
          <a:ln w="19050">
            <a:solidFill>
              <a:schemeClr val="accent1"/>
            </a:solidFill>
          </a:ln>
          <a:effectLst>
            <a:outerShdw blurRad="63500" dist="38100" dir="5400000" rotWithShape="0">
              <a:schemeClr val="accent1">
                <a:alpha val="32000"/>
              </a:schemeClr>
            </a:outerShdw>
          </a:effectLst>
        </p:spPr>
        <p:txBody>
          <a:bodyPr anchor="ctr"/>
          <a:lstStyle/>
          <a:p>
            <a:pPr algn="ctr"/>
            <a:r>
              <a:rPr sz="1400" b="1">
                <a:solidFill>
                  <a:schemeClr val="lt1"/>
                </a:solidFill>
              </a:rPr>
              <a:t>Gradient surface support</a:t>
            </a:r>
          </a:p>
        </p:txBody>
      </p:sp>
      <p:sp>
        <p:nvSpPr>
          <p:cNvPr id="31" name="Theme Style Panel"/>
          <p:cNvSpPr/>
          <p:nvPr/>
        </p:nvSpPr>
        <p:spPr>
          <a:xfrm>
            <a:off x="4800600" y="3025140"/>
            <a:ext cx="2514600" cy="548640"/>
          </a:xfrm>
          <a:prstGeom prst="roundRect">
            <a:avLst/>
          </a:prstGeom>
        </p:spPr>
        <p:style>
          <a:lnRef idx="2">
            <a:schemeClr val="accent4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lt2"/>
          </a:fontRef>
        </p:style>
        <p:txBody>
          <a:bodyPr anchor="ctr"/>
          <a:lstStyle/>
          <a:p>
            <a:pPr algn="ctr"/>
            <a:r>
              <a:rPr sz="1400" b="1"/>
              <a:t>Theme style matrix</a:t>
            </a:r>
          </a:p>
        </p:txBody>
      </p:sp>
      <p:sp>
        <p:nvSpPr>
          <p:cNvPr id="14" name="Status Note"/>
          <p:cNvSpPr txBox="1"/>
          <p:nvPr/>
        </p:nvSpPr>
        <p:spPr>
          <a:xfrm>
            <a:off x="685800" y="3314700"/>
            <a:ext cx="3657600" cy="685800"/>
          </a:xfrm>
          <a:prstGeom prst="rect">
            <a:avLst/>
          </a:prstGeom>
          <a:solidFill>
            <a:schemeClr val="accent2">
              <a:alpha val="18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r>
              <a:rPr sz="1600" b="1">
                <a:solidFill>
                  <a:schemeClr val="accent2">
                    <a:alpha val="54000"/>
                  </a:schemeClr>
                </a:solidFill>
              </a:rPr>
              <a:t>Text box styles now keep fill and outline.</a:t>
            </a:r>
          </a:p>
        </p:txBody>
      </p:sp>
      <p:sp>
        <p:nvSpPr>
          <p:cNvPr id="32" name="Picture Fill Card"/>
          <p:cNvSpPr/>
          <p:nvPr/>
        </p:nvSpPr>
        <p:spPr>
          <a:xfrm>
            <a:off x="685800" y="2514600"/>
            <a:ext cx="3657600" cy="594360"/>
          </a:xfrm>
          <a:prstGeom prst="roundRect">
            <a:avLst/>
          </a:prstGeom>
          <a:blipFill rotWithShape="1">
            <a:blip r:embed="rId2">
              <a:alphaModFix amt="72000"/>
            </a:blip>
            <a:srcRect l="12000" r="6000" t="10000" b="8000"/>
            <a:stretch>
              <a:fillRect/>
            </a:stretch>
          </a:blipFill>
          <a:ln w="19050">
            <a:solidFill>
              <a:schemeClr val="accent6"/>
            </a:solidFill>
          </a:ln>
        </p:spPr>
        <p:txBody>
          <a:bodyPr anchor="ctr"/>
          <a:lstStyle/>
          <a:p>
            <a:pPr algn="ctr"/>
            <a:r>
              <a:rPr sz="1400" b="1">
                <a:solidFill>
                  <a:schemeClr val="lt2"/>
                </a:solidFill>
              </a:rPr>
              <a:t>Picture fill support</a:t>
            </a:r>
          </a:p>
        </p:txBody>
      </p:sp>
      <p:sp>
        <p:nvSpPr>
          <p:cNvPr id="33" name="Pattern Style Chip"/>
          <p:cNvSpPr/>
          <p:nvPr/>
        </p:nvSpPr>
        <p:spPr>
          <a:xfrm>
            <a:off x="4445000" y="2260000"/>
            <a:ext cx="2057400" cy="365760"/>
          </a:xfrm>
          <a:prstGeom prst="roundRect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sz="1300" b="1"/>
              <a:t>Theme pattern fill</a:t>
            </a:r>
          </a:p>
        </p:txBody>
      </p:sp>
      <p:sp>
        <p:nvSpPr>
          <p:cNvPr id="15" name="List Style Note"/>
          <p:cNvSpPr txBox="1"/>
          <p:nvPr/>
        </p:nvSpPr>
        <p:spPr>
          <a:xfrm>
            <a:off x="685800" y="4114800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171450">
              <a:buChar char="•"/>
              <a:defRPr sz="1800" i="1">
                <a:solidFill>
                  <a:schemeClr val="accent3"/>
                </a:solidFill>
              </a:defRPr>
            </a:lvl1pPr>
          </a:lstStyle>
          <a:p>
            <a:pPr lvl="0"/>
            <a:r>
              <a:t>Inherited list style item</a:t>
            </a:r>
          </a:p>
        </p:txBody>
      </p:sp>
      <p:sp>
        <p:nvSpPr>
          <p:cNvPr id="34" name="Pattern Note"/>
          <p:cNvSpPr txBox="1"/>
          <p:nvPr/>
        </p:nvSpPr>
        <p:spPr>
          <a:xfrm>
            <a:off x="685800" y="2057400"/>
            <a:ext cx="3383280" cy="365760"/>
          </a:xfrm>
          <a:prstGeom prst="roundRect">
            <a:avLst/>
          </a:prstGeom>
          <a:pattFill prst="diagCross">
            <a:fgClr>
              <a:schemeClr val="accent6"/>
            </a:fgClr>
            <a:bgClr>
              <a:schemeClr val="lt1">
                <a:alpha val="88000"/>
              </a:schemeClr>
            </a:bgClr>
          </a:pattFill>
          <a:ln w="12700">
            <a:solidFill>
              <a:schemeClr val="accent6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chemeClr val="dk1">
                    <a:alpha val="76000"/>
                  </a:schemeClr>
                </a:solidFill>
                <a:highlight>
                  <a:schemeClr val="accent1">
                    <a:alpha val="26000"/>
                  </a:schemeClr>
                </a:highlight>
              </a:rPr>
              <a:t>Pattern fill note</a:t>
            </a:r>
          </a:p>
        </p:txBody>
      </p:sp>
      <p:sp>
        <p:nvSpPr>
          <p:cNvPr id="38" name="Vertical Label"/>
          <p:cNvSpPr txBox="1"/>
          <p:nvPr/>
        </p:nvSpPr>
        <p:spPr>
          <a:xfrm>
            <a:off x="4160520" y="1943100"/>
            <a:ext cx="411480" cy="1097280"/>
          </a:xfrm>
          <a:prstGeom prst="roundRect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</a:ln>
        </p:spPr>
        <p:txBody>
          <a:bodyPr anchor="ctr" vert="vert270"/>
          <a:lstStyle/>
          <a:p>
            <a:pPr algn="ctr"/>
            <a:r>
              <a:rPr sz="1300" b="1">
                <a:solidFill>
                  <a:schemeClr val="accent1"/>
                </a:solidFill>
              </a:rPr>
              <a:t>Vertical label</a:t>
            </a:r>
          </a:p>
        </p:txBody>
      </p:sp>
      <p:sp>
        <p:nvSpPr>
          <p:cNvPr id="16" name="Flow Arrow"/>
          <p:cNvSpPr/>
          <p:nvPr/>
        </p:nvSpPr>
        <p:spPr>
          <a:xfrm>
            <a:off x="4800600" y="3520440"/>
            <a:ext cx="2514600" cy="548640"/>
          </a:xfrm>
          <a:prstGeom prst="rightArrow">
            <a:avLst>
              <a:gd name="adj1" fmla="val 52000"/>
              <a:gd name="adj2" fmla="val 42000"/>
            </a:avLst>
          </a:prstGeom>
          <a:solidFill>
            <a:schemeClr val="accent1">
              <a:tint val="40000"/>
            </a:schemeClr>
          </a:solidFill>
          <a:ln w="19050" cap="sq">
            <a:solidFill>
              <a:schemeClr val="accent1"/>
            </a:solidFill>
            <a:bevel/>
          </a:ln>
        </p:spPr>
      </p:sp>
      <p:sp>
        <p:nvSpPr>
          <p:cNvPr id="22" name="Unsupported Wedge Callout"/>
          <p:cNvSpPr/>
          <p:nvPr/>
        </p:nvSpPr>
        <p:spPr>
          <a:xfrm>
            <a:off x="4800600" y="4183380"/>
            <a:ext cx="2514600" cy="640080"/>
          </a:xfrm>
          <a:prstGeom prst="wedgeRoundRectCallout">
            <a:avLst/>
          </a:prstGeom>
          <a:solidFill>
            <a:schemeClr val="accent5">
              <a:tint val="45000"/>
            </a:schemeClr>
          </a:solidFill>
          <a:ln w="19050">
            <a:solidFill>
              <a:schemeClr val="accent5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