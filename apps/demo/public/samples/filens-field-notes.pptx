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Default Extension="jpg" ContentType="image/jpeg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AndContent" preserve="1">
  <p:cSld name="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Relationship Id="rIdAurora" Type="http://schemas.openxmlformats.org/officeDocument/2006/relationships/image" Target="../media/aurora.jpg"/><Relationship Id="rIdAuroraPortrait" Type="http://schemas.openxmlformats.org/officeDocument/2006/relationships/image" Target="../media/aurora-portrait.jpg"/><Relationship Id="rIdNebula" Type="http://schemas.openxmlformats.org/officeDocument/2006/relationships/image" Target="../media/nebula.jpg"/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1.xml"/><Relationship Id="rIdAurora" Type="http://schemas.openxmlformats.org/officeDocument/2006/relationships/image" Target="../media/aurora.jpg"/><Relationship Id="rIdAuroraPortrait" Type="http://schemas.openxmlformats.org/officeDocument/2006/relationships/image" Target="../media/aurora-portrait.jpg"/><Relationship Id="rIdNebula" Type="http://schemas.openxmlformats.org/officeDocument/2006/relationships/image" Target="../media/nebula.jpg"/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1.xml"/><Relationship Id="rIdAurora" Type="http://schemas.openxmlformats.org/officeDocument/2006/relationships/image" Target="../media/aurora.jpg"/><Relationship Id="rIdAuroraPortrait" Type="http://schemas.openxmlformats.org/officeDocument/2006/relationships/image" Target="../media/aurora-portrait.jpg"/><Relationship Id="rIdNebula" Type="http://schemas.openxmlformats.org/officeDocument/2006/relationships/image" Target="../media/nebula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uroraPortrait photograph"/>
          <p:cNvPicPr/>
          <p:nvPr/>
        </p:nvPicPr>
        <p:blipFill>
          <a:blip r:embed="rIdAuroraPortrait"/>
          <a:stretch>
            <a:fillRect/>
          </a:stretch>
        </p:blipFill>
        <p:spPr>
          <a:xfrm>
            <a:off x="3657600" y="0"/>
            <a:ext cx="5486400" cy="5143500"/>
          </a:xfrm>
          <a:prstGeom prst="rect">
            <a:avLst/>
          </a:prstGeom>
        </p:spPr>
      </p:pic>
      <p:sp>
        <p:nvSpPr>
          <p:cNvPr id="3" name="Shape 3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7162E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365760" y="350520"/>
            <a:ext cx="45720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28DFF"/>
                </a:solidFill>
                <a:latin typeface="Arial"/>
              </a:rPr>
              <a:t>FIELD NOTES / THE NIGHT ISSUE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327660" y="1325880"/>
            <a:ext cx="5334000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6825" b="1">
                <a:solidFill>
                  <a:srgbClr val="FFFFFF"/>
                </a:solidFill>
                <a:latin typeface="Arial"/>
              </a:rPr>
              <a:t>BEYOND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342900" y="2148840"/>
            <a:ext cx="57912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5100" b="1">
                <a:solidFill>
                  <a:srgbClr val="FFFFFF"/>
                </a:solidFill>
                <a:latin typeface="Arial"/>
              </a:rPr>
              <a:t>THE VISIBLE.</a:t>
            </a:r>
          </a:p>
        </p:txBody>
      </p:sp>
      <p:sp>
        <p:nvSpPr>
          <p:cNvPr id="7" name="Shape 7"/>
          <p:cNvSpPr/>
          <p:nvPr/>
        </p:nvSpPr>
        <p:spPr>
          <a:xfrm>
            <a:off x="381000" y="3246120"/>
            <a:ext cx="487680" cy="30480"/>
          </a:xfrm>
          <a:prstGeom prst="rect">
            <a:avLst/>
          </a:prstGeom>
          <a:solidFill>
            <a:srgbClr val="128DFF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381000" y="3474720"/>
            <a:ext cx="2971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75" b="0">
                <a:solidFill>
                  <a:srgbClr val="D6EEFF"/>
                </a:solidFill>
                <a:latin typeface="Arial"/>
              </a:rPr>
              <a:t>Follow the light.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381000" y="3825240"/>
            <a:ext cx="32004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0">
                <a:solidFill>
                  <a:srgbClr val="7FADDA"/>
                </a:solidFill>
                <a:latin typeface="Arial"/>
              </a:rPr>
              <a:t>A journey into the extraordinary.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381000" y="4594860"/>
            <a:ext cx="533400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0">
                <a:solidFill>
                  <a:srgbClr val="8DB6DC"/>
                </a:solidFill>
                <a:latin typeface="Arial"/>
              </a:rPr>
              <a:t>POLAR SKIES / DEEP SPACE / NEW PERSPECTIVES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381000" y="4884420"/>
            <a:ext cx="3048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0">
                <a:solidFill>
                  <a:srgbClr val="6487AE"/>
                </a:solidFill>
                <a:latin typeface="Arial"/>
              </a:rPr>
              <a:t>filens /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urora photograph"/>
          <p:cNvPicPr/>
          <p:nvPr/>
        </p:nvPicPr>
        <p:blipFill>
          <a:blip r:embed="rIdAurora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3" name="Shape 13"/>
          <p:cNvSpPr/>
          <p:nvPr/>
        </p:nvSpPr>
        <p:spPr>
          <a:xfrm>
            <a:off x="0" y="3642360"/>
            <a:ext cx="9144000" cy="1501140"/>
          </a:xfrm>
          <a:prstGeom prst="rect">
            <a:avLst/>
          </a:prstGeom>
          <a:solidFill>
            <a:srgbClr val="07162E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365760" y="304800"/>
            <a:ext cx="6477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D6EEFF"/>
                </a:solidFill>
                <a:latin typeface="Arial"/>
              </a:rPr>
              <a:t>02 / AT THE EDGE OF NIGHT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365760" y="386334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4050" b="1">
                <a:solidFill>
                  <a:srgbClr val="FFFFFF"/>
                </a:solidFill>
                <a:latin typeface="Arial"/>
              </a:rPr>
              <a:t>CHASE THE LIGHT.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381000" y="4541520"/>
            <a:ext cx="83820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 b="0">
                <a:solidFill>
                  <a:srgbClr val="9EC4E8"/>
                </a:solidFill>
                <a:latin typeface="Arial"/>
              </a:rPr>
              <a:t>A winter horizon. A sky in motion. An entirely new point of view.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381000" y="4930140"/>
            <a:ext cx="762000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750" b="0">
                <a:solidFill>
                  <a:srgbClr val="6487AE"/>
                </a:solidFill>
                <a:latin typeface="Arial"/>
              </a:rPr>
              <a:t>Photograph: Carsten / CC BY 2.0 / blue color grade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Nebula photograph"/>
          <p:cNvPicPr/>
          <p:nvPr/>
        </p:nvPicPr>
        <p:blipFill>
          <a:blip r:embed="rIdNebula"/>
          <a:stretch>
            <a:fillRect/>
          </a:stretch>
        </p:blipFill>
        <p:spPr>
          <a:xfrm>
            <a:off x="4114800" y="0"/>
            <a:ext cx="5029200" cy="5143500"/>
          </a:xfrm>
          <a:prstGeom prst="rect">
            <a:avLst/>
          </a:prstGeom>
        </p:spPr>
      </p:pic>
      <p:sp>
        <p:nvSpPr>
          <p:cNvPr id="19" name="Shape 19"/>
          <p:cNvSpPr/>
          <p:nvPr/>
        </p:nvSpPr>
        <p:spPr>
          <a:xfrm>
            <a:off x="0" y="0"/>
            <a:ext cx="4267200" cy="5143500"/>
          </a:xfrm>
          <a:prstGeom prst="rect">
            <a:avLst/>
          </a:prstGeom>
          <a:solidFill>
            <a:srgbClr val="07162E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365760" y="350520"/>
            <a:ext cx="4572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28DFF"/>
                </a:solidFill>
                <a:latin typeface="Arial"/>
              </a:rPr>
              <a:t>03 / THE COSMIC ATLAS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342900" y="1059180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4575" b="1">
                <a:solidFill>
                  <a:srgbClr val="FFFFFF"/>
                </a:solidFill>
                <a:latin typeface="Arial"/>
              </a:rPr>
              <a:t>A universe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342900" y="166116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4575" b="1">
                <a:solidFill>
                  <a:srgbClr val="FFFFFF"/>
                </a:solidFill>
                <a:latin typeface="Arial"/>
              </a:rPr>
              <a:t>of detail.</a:t>
            </a:r>
          </a:p>
        </p:txBody>
      </p:sp>
      <p:sp>
        <p:nvSpPr>
          <p:cNvPr id="23" name="Shape 23"/>
          <p:cNvSpPr/>
          <p:nvPr/>
        </p:nvSpPr>
        <p:spPr>
          <a:xfrm>
            <a:off x="381000" y="2621280"/>
            <a:ext cx="3276600" cy="15240"/>
          </a:xfrm>
          <a:prstGeom prst="rect">
            <a:avLst/>
          </a:prstGeom>
          <a:solidFill>
            <a:srgbClr val="244564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381000" y="2887980"/>
            <a:ext cx="76200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375" b="1">
                <a:solidFill>
                  <a:srgbClr val="128DFF"/>
                </a:solidFill>
                <a:latin typeface="Arial"/>
              </a:rPr>
              <a:t>01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1219200" y="2948940"/>
            <a:ext cx="274320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D6EEFF"/>
                </a:solidFill>
                <a:latin typeface="Arial"/>
              </a:rPr>
              <a:t>LOOK CLOSER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381000" y="3619500"/>
            <a:ext cx="38862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0">
                <a:solidFill>
                  <a:srgbClr val="9EC4E8"/>
                </a:solidFill>
                <a:latin typeface="Arial"/>
              </a:rPr>
              <a:t>Discover a new perspective in every file.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381000" y="4610100"/>
            <a:ext cx="762000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0">
                <a:solidFill>
                  <a:srgbClr val="8DB6DC"/>
                </a:solidFill>
                <a:latin typeface="Arial"/>
              </a:rPr>
              <a:t>CARINA NEBULA / NASA, ESA, CSA, STScI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381000" y="4884420"/>
            <a:ext cx="3048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0">
                <a:solidFill>
                  <a:srgbClr val="6487AE"/>
                </a:solidFill>
                <a:latin typeface="Arial"/>
              </a:rPr>
              <a:t>filens / 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eview Theme">
  <a:themeElements>
    <a:clrScheme name="Preview Scheme">
      <a:dk1>
        <a:srgbClr val="122033"/>
      </a:dk1>
      <a:lt1>
        <a:srgbClr val="F6F8FB"/>
      </a:lt1>
      <a:dk2>
        <a:srgbClr val="20324A"/>
      </a:dk2>
      <a:lt2>
        <a:srgbClr val="FFFFFF"/>
      </a:lt2>
      <a:accent1>
        <a:srgbClr val="2F6BFF"/>
      </a:accent1>
      <a:accent2>
        <a:srgbClr val="FF7A59"/>
      </a:accent2>
      <a:accent3>
        <a:srgbClr val="2ABF88"/>
      </a:accent3>
      <a:accent4>
        <a:srgbClr val="FFB020"/>
      </a:accent4>
      <a:accent5>
        <a:srgbClr val="8A63D2"/>
      </a:accent5>
      <a:accent6>
        <a:srgbClr val="25A7C5"/>
      </a:accent6>
      <a:hlink>
        <a:srgbClr val="2F6BFF"/>
      </a:hlink>
      <a:folHlink>
        <a:srgbClr val="8A63D2"/>
      </a:folHlink>
    </a:clrScheme>
    <a:fontScheme name="Preview Fonts">
      <a:majorFont>
        <a:latin typeface="Aptos"/>
        <a:font script="Hans" typeface="等线 Light"/>
        <a:font script="Jpan" typeface="Yu Gothic"/>
        <a:font script="Hang" typeface="Malgun Gothic"/>
      </a:majorFont>
      <a:minorFont>
        <a:latin typeface="Calibri"/>
        <a:font script="Hans" typeface="等线"/>
        <a:font script="Jpan" typeface="Yu Gothic"/>
        <a:font script="Hang" typeface="Malgun Gothic"/>
      </a:minorFont>
    </a:fontScheme>
    <a:fmtScheme name="Preview Forma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</a:schemeClr>
            </a:gs>
            <a:gs pos="100000">
              <a:schemeClr val="phClr"/>
            </a:gs>
          </a:gsLst>
          <a:lin ang="0" scaled="1"/>
        </a:gradFill>
        <a:pattFill prst="diagCross">
          <a:fgClr>
            <a:schemeClr val="phClr"/>
          </a:fgClr>
          <a:bgClr>
            <a:schemeClr val="lt1">
              <a:alpha val="82000"/>
            </a:schemeClr>
          </a:bgClr>
        </a:pattFill>
      </a:fillStyleLst>
      <a:lnStyleLst>
        <a:ln w="12700" cap="rnd">
          <a:solidFill>
            <a:schemeClr val="phClr"/>
          </a:solidFill>
          <a:round/>
        </a:ln>
        <a:ln w="19050" cap="sq">
          <a:solidFill>
            <a:schemeClr val="phClr">
              <a:shade val="75000"/>
            </a:schemeClr>
          </a:solidFill>
          <a:bevel/>
        </a:ln>
        <a:ln w="28575">
          <a:solidFill>
            <a:schemeClr val="phClr"/>
          </a:solidFill>
        </a:ln>
      </a:lnStyleLst>
      <a:bgFillStyleLst>
        <a:solidFill>
          <a:schemeClr val="phClr"/>
        </a:solidFill>
        <a:solidFill>
          <a:schemeClr val="phClr">
            <a:shade val="90000"/>
          </a:schemeClr>
        </a:solidFill>
        <a:gradFill rotWithShape="1">
          <a:gsLst>
            <a:gs pos="0">
              <a:schemeClr val="phClr">
                <a:tint val="60000"/>
              </a:schemeClr>
            </a:gs>
            <a:gs pos="100000">
              <a:schemeClr val="phClr"/>
            </a:gs>
          </a:gsLst>
          <a:lin ang="5400000" scaled="1"/>
        </a:gradFill>
      </a:bgFillStyleLst>
      <a:effectStyleLst>
        <a:effectStyle>
          <a:effectLst>
            <a:outerShdw blurRad="76200" dist="50800" dir="2700000" rotWithShape="0">
              <a:schemeClr val="phClr">
                <a:alpha val="36000"/>
              </a:schemeClr>
            </a:outerShdw>
          </a:effectLst>
        </a:effectStyle>
        <a:effectStyle>
          <a:effectLst>
            <a:outerShdw blurRad="63500" dist="38100" dir="5400000" rotWithShape="0">
              <a:schemeClr val="phClr">
                <a:alpha val="24000"/>
              </a:schemeClr>
            </a:outerShdw>
          </a:effectLst>
        </a:effectStyle>
        <a:effectStyle>
          <a:effectLst>
            <a:outerShdw blurRad="50800" dist="25400" dir="0" rotWithShape="0">
              <a:schemeClr val="phClr">
                <a:alpha val="18000"/>
              </a:schemeClr>
            </a:outerShdw>
          </a:effectLst>
        </a:effectStyle>
      </a:effect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OpenAI Codex</Application>
</Properties>
</file>

<file path=docProps/core.xml><?xml version="1.0" encoding="utf-8"?>
<cp:coreProperties xmlns:cp="http://schemas.openxmlformats.org/package/2006/metadata/core-properties" xmlns:dc="http://purl.org/dc/elements/1.1/">
  <dc:title>Beyond the Visible</dc:title>
  <dc:creator>filens public samples</dc:creator>
  <dc:description>Original editable sample; photographs credited in samples/SOURCES.md.</dc:description>
</cp:coreProperties>
</file>